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58" r:id="rId7"/>
    <p:sldId id="259" r:id="rId8"/>
    <p:sldId id="260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8" y="-3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are2026 16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3347" y="1456839"/>
            <a:ext cx="1069482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R" sz="4000" b="1" dirty="0"/>
              <a:t>Sistema Digital para la Gestión de Préstamos de Equipos en Ingeniería Eléctrica y Electrónica</a:t>
            </a:r>
            <a:endParaRPr sz="4000" b="1" dirty="0">
              <a:solidFill>
                <a:srgbClr val="020659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06240" y="2839463"/>
            <a:ext cx="3749039" cy="73152"/>
          </a:xfrm>
          <a:prstGeom prst="rect">
            <a:avLst/>
          </a:prstGeom>
          <a:solidFill>
            <a:srgbClr val="F244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F081F24-F709-8C8C-EEBF-EADA9E19A5D4}"/>
              </a:ext>
            </a:extLst>
          </p:cNvPr>
          <p:cNvSpPr txBox="1"/>
          <p:nvPr/>
        </p:nvSpPr>
        <p:spPr>
          <a:xfrm>
            <a:off x="2496640" y="3202632"/>
            <a:ext cx="81493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tx2"/>
                </a:solidFill>
              </a:rPr>
              <a:t>Sistema de Prestamos que convierte la solicitud virtualizada y remota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are2026 16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1078992"/>
            <a:ext cx="109728" cy="502920"/>
          </a:xfrm>
          <a:prstGeom prst="rect">
            <a:avLst/>
          </a:prstGeom>
          <a:solidFill>
            <a:srgbClr val="F244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005840"/>
            <a:ext cx="405130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CR" sz="3600" b="1" dirty="0"/>
              <a:t>Problemática Actual</a:t>
            </a:r>
            <a:endParaRPr sz="3400" b="1" dirty="0">
              <a:solidFill>
                <a:srgbClr val="020659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987083"/>
            <a:ext cx="10454334" cy="3883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R" sz="2400" b="1" dirty="0"/>
              <a:t>Dependencia de Presencialidad:</a:t>
            </a:r>
            <a:r>
              <a:rPr lang="es-CR" sz="2400" dirty="0"/>
              <a:t> Trámites limitados a horarios de oficina y asistencia física en la sede El Roble.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R" sz="2400" b="1" dirty="0"/>
              <a:t>Vulnerabilidad de Datos:</a:t>
            </a:r>
            <a:r>
              <a:rPr lang="es-CR" sz="2400" dirty="0"/>
              <a:t> Uso de boletas físicas propensas a pérdida, deterioro y errores de transcripción.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R" sz="2400" b="1" dirty="0"/>
              <a:t>Gestión Fragmentada:</a:t>
            </a:r>
            <a:r>
              <a:rPr lang="es-CR" sz="2400" dirty="0"/>
              <a:t> El administrador carece de una visión en tiempo real sobre responsables y fechas de entrega.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R" sz="2400" b="1" dirty="0"/>
              <a:t>Falta de Trazabilidad:</a:t>
            </a:r>
            <a:r>
              <a:rPr lang="es-CR" sz="2400" dirty="0"/>
              <a:t> Inexistencia de un control de stock centralizado y actualizado para las carreras.</a:t>
            </a:r>
          </a:p>
          <a:p>
            <a:pPr marL="342900" indent="-342900" algn="just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23373"/>
                </a:solidFill>
              </a:defRPr>
            </a:pPr>
            <a:endParaRPr lang="es-ES" sz="2400" dirty="0"/>
          </a:p>
          <a:p>
            <a:pPr>
              <a:spcAft>
                <a:spcPts val="1000"/>
              </a:spcAft>
              <a:defRPr sz="2200">
                <a:solidFill>
                  <a:srgbClr val="023373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9CDC1-A3AC-EDE9-9B67-7BFC1B01F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are2026 16-9.png">
            <a:extLst>
              <a:ext uri="{FF2B5EF4-FFF2-40B4-BE49-F238E27FC236}">
                <a16:creationId xmlns:a16="http://schemas.microsoft.com/office/drawing/2014/main" id="{D3D2BAC9-305E-96EF-D6CB-EB7CA6D58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3F63CDF-CCCA-BA82-CDB0-26D2554877BE}"/>
              </a:ext>
            </a:extLst>
          </p:cNvPr>
          <p:cNvSpPr/>
          <p:nvPr/>
        </p:nvSpPr>
        <p:spPr>
          <a:xfrm>
            <a:off x="685800" y="1078992"/>
            <a:ext cx="109728" cy="502920"/>
          </a:xfrm>
          <a:prstGeom prst="rect">
            <a:avLst/>
          </a:prstGeom>
          <a:solidFill>
            <a:srgbClr val="F244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F6313F-1A13-5AD8-3EDD-12C42B266E53}"/>
              </a:ext>
            </a:extLst>
          </p:cNvPr>
          <p:cNvSpPr txBox="1"/>
          <p:nvPr/>
        </p:nvSpPr>
        <p:spPr>
          <a:xfrm>
            <a:off x="868680" y="1005840"/>
            <a:ext cx="363432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 err="1"/>
              <a:t>Objectivo</a:t>
            </a:r>
            <a:r>
              <a:rPr lang="en-US" sz="3600" b="1" dirty="0"/>
              <a:t> General</a:t>
            </a:r>
            <a:endParaRPr sz="3400" b="1" dirty="0">
              <a:solidFill>
                <a:srgbClr val="02065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B0904-2D5F-A90B-DC52-40C122901A03}"/>
              </a:ext>
            </a:extLst>
          </p:cNvPr>
          <p:cNvSpPr txBox="1"/>
          <p:nvPr/>
        </p:nvSpPr>
        <p:spPr>
          <a:xfrm>
            <a:off x="685800" y="1987083"/>
            <a:ext cx="104543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R" sz="2800" dirty="0"/>
              <a:t>Implementar un sistema digital centralizado para el control, préstamo y seguimiento de equipos e insumos institucionales, que garantice la disponibilidad de los recursos y la responsabilidad administrativa de los usuarios en cada ciclo académico.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700993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09867-757F-3D30-B268-2C5161876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are2026 16-9.png">
            <a:extLst>
              <a:ext uri="{FF2B5EF4-FFF2-40B4-BE49-F238E27FC236}">
                <a16:creationId xmlns:a16="http://schemas.microsoft.com/office/drawing/2014/main" id="{4516E206-F9B0-BFC7-B046-3F9930E7A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A55875E-407F-5E92-45C2-DAB825F81740}"/>
              </a:ext>
            </a:extLst>
          </p:cNvPr>
          <p:cNvSpPr/>
          <p:nvPr/>
        </p:nvSpPr>
        <p:spPr>
          <a:xfrm>
            <a:off x="685800" y="1078992"/>
            <a:ext cx="109728" cy="502920"/>
          </a:xfrm>
          <a:prstGeom prst="rect">
            <a:avLst/>
          </a:prstGeom>
          <a:solidFill>
            <a:srgbClr val="F244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9A2A35-36B9-835B-68F8-20E943CD9B88}"/>
              </a:ext>
            </a:extLst>
          </p:cNvPr>
          <p:cNvSpPr txBox="1"/>
          <p:nvPr/>
        </p:nvSpPr>
        <p:spPr>
          <a:xfrm>
            <a:off x="868680" y="1005840"/>
            <a:ext cx="42128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 err="1"/>
              <a:t>Objectivo</a:t>
            </a:r>
            <a:r>
              <a:rPr lang="en-US" sz="3600" b="1" dirty="0"/>
              <a:t> </a:t>
            </a:r>
            <a:r>
              <a:rPr lang="en-US" sz="3600" b="1" dirty="0" err="1"/>
              <a:t>Especificos</a:t>
            </a:r>
            <a:endParaRPr sz="3400" b="1" dirty="0">
              <a:solidFill>
                <a:srgbClr val="02065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C081EB-6D67-DF96-2D11-FE30D4A8418B}"/>
              </a:ext>
            </a:extLst>
          </p:cNvPr>
          <p:cNvSpPr txBox="1"/>
          <p:nvPr/>
        </p:nvSpPr>
        <p:spPr>
          <a:xfrm>
            <a:off x="685800" y="2738475"/>
            <a:ext cx="10454334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R" b="1" dirty="0"/>
              <a:t>Digitalizar el Inventario y Control de Acceso: Crear un registro seguro donde cada estudiante y profesor tenga un perfil único vinculado a su correo institucional, permitiendo saber exactamente quién solicita cada recurso.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R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R" b="1" dirty="0"/>
              <a:t>Automatizar la Gestión de Préstamos: Establecer un flujo de solicitudes en línea que permita a los usuarios consultar la disponibilidad en tiempo real y a los administradores aprobar o rechazar entregas de forma ágil.</a:t>
            </a:r>
          </a:p>
          <a:p>
            <a:pPr algn="just"/>
            <a:endParaRPr lang="es-CR" sz="1600" dirty="0"/>
          </a:p>
        </p:txBody>
      </p:sp>
    </p:spTree>
    <p:extLst>
      <p:ext uri="{BB962C8B-B14F-4D97-AF65-F5344CB8AC3E}">
        <p14:creationId xmlns:p14="http://schemas.microsoft.com/office/powerpoint/2010/main" val="696569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DCBD0-A1D9-1E76-31C1-14FD8A6EF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are2026 16-9.png">
            <a:extLst>
              <a:ext uri="{FF2B5EF4-FFF2-40B4-BE49-F238E27FC236}">
                <a16:creationId xmlns:a16="http://schemas.microsoft.com/office/drawing/2014/main" id="{BC3DC959-111F-4BAC-3569-C138AC304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F0558BE-33E3-09F2-353C-2BBA2FF366B4}"/>
              </a:ext>
            </a:extLst>
          </p:cNvPr>
          <p:cNvSpPr/>
          <p:nvPr/>
        </p:nvSpPr>
        <p:spPr>
          <a:xfrm>
            <a:off x="685800" y="1078992"/>
            <a:ext cx="109728" cy="502920"/>
          </a:xfrm>
          <a:prstGeom prst="rect">
            <a:avLst/>
          </a:prstGeom>
          <a:solidFill>
            <a:srgbClr val="F244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33A25D-4111-0EBE-AB06-100AD8FAB4BA}"/>
              </a:ext>
            </a:extLst>
          </p:cNvPr>
          <p:cNvSpPr txBox="1"/>
          <p:nvPr/>
        </p:nvSpPr>
        <p:spPr>
          <a:xfrm>
            <a:off x="868680" y="1005840"/>
            <a:ext cx="42128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 err="1"/>
              <a:t>Objectivo</a:t>
            </a:r>
            <a:r>
              <a:rPr lang="en-US" sz="3600" b="1" dirty="0"/>
              <a:t> </a:t>
            </a:r>
            <a:r>
              <a:rPr lang="en-US" sz="3600" b="1" dirty="0" err="1"/>
              <a:t>Especificos</a:t>
            </a:r>
            <a:endParaRPr sz="3400" b="1" dirty="0">
              <a:solidFill>
                <a:srgbClr val="02065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BBD473-1EA3-BEE2-6C6B-935ABDD6FBC2}"/>
              </a:ext>
            </a:extLst>
          </p:cNvPr>
          <p:cNvSpPr txBox="1"/>
          <p:nvPr/>
        </p:nvSpPr>
        <p:spPr>
          <a:xfrm>
            <a:off x="685800" y="2738475"/>
            <a:ext cx="10454334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R" b="1" dirty="0"/>
              <a:t>Monitorear el Ciclo de Devolución: Implementar un sistema de alertas y seguimiento que identifique equipos pendientes de entrega antes del cierre de cada cuatrimestre, asegurando que el inventario esté completo para el siguiente periodo.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R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R" b="1" dirty="0"/>
              <a:t>Aplicar Medidas de Responsabilidad (Sanciones): Vincular el estado de los préstamos con el historial del usuario, permitiendo la generación de bloqueos administrativos o de matrícula para aquellos que no cumplan con el reglamento de devolución.</a:t>
            </a:r>
            <a:endParaRPr lang="es-CR" sz="1400" b="1" dirty="0"/>
          </a:p>
          <a:p>
            <a:pPr algn="just"/>
            <a:endParaRPr lang="es-CR" sz="1600" dirty="0"/>
          </a:p>
        </p:txBody>
      </p:sp>
    </p:spTree>
    <p:extLst>
      <p:ext uri="{BB962C8B-B14F-4D97-AF65-F5344CB8AC3E}">
        <p14:creationId xmlns:p14="http://schemas.microsoft.com/office/powerpoint/2010/main" val="766499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are2026 16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1078992"/>
            <a:ext cx="109728" cy="502920"/>
          </a:xfrm>
          <a:prstGeom prst="rect">
            <a:avLst/>
          </a:prstGeom>
          <a:solidFill>
            <a:srgbClr val="F244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005840"/>
            <a:ext cx="386586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CR" sz="3600" b="1" dirty="0"/>
              <a:t>Solución Propuesta</a:t>
            </a:r>
            <a:endParaRPr sz="3400" b="1" dirty="0">
              <a:solidFill>
                <a:srgbClr val="020659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3930" y="2550794"/>
            <a:ext cx="9814255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23373"/>
                </a:solidFill>
              </a:defRPr>
            </a:pPr>
            <a:r>
              <a:rPr lang="es-CR" sz="2400" dirty="0"/>
              <a:t>Plataforma Web Centralizada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23373"/>
                </a:solidFill>
              </a:defRPr>
            </a:pPr>
            <a:r>
              <a:rPr lang="es-CR" sz="2400" dirty="0"/>
              <a:t>Digitalización de Registros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23373"/>
                </a:solidFill>
              </a:defRPr>
            </a:pPr>
            <a:r>
              <a:rPr lang="es-CR" sz="2400" dirty="0"/>
              <a:t>Módulo de Préstamos y Devoluciones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23373"/>
                </a:solidFill>
              </a:defRPr>
            </a:pPr>
            <a:r>
              <a:rPr lang="es-CR" sz="2400" dirty="0"/>
              <a:t>Administración de Inventario</a:t>
            </a:r>
            <a:br>
              <a:rPr lang="es-ES" dirty="0"/>
            </a:br>
            <a:endParaRPr lang="es-E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are2026 16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1078992"/>
            <a:ext cx="109728" cy="502920"/>
          </a:xfrm>
          <a:prstGeom prst="rect">
            <a:avLst/>
          </a:prstGeom>
          <a:solidFill>
            <a:srgbClr val="F244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005840"/>
            <a:ext cx="445686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CR" sz="3600" b="1" dirty="0"/>
              <a:t>Beneficios del Sistema</a:t>
            </a:r>
            <a:endParaRPr sz="3400" b="1" dirty="0">
              <a:solidFill>
                <a:srgbClr val="020659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8694" y="2333007"/>
            <a:ext cx="9814255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23373"/>
                </a:solidFill>
              </a:defRPr>
            </a:pPr>
            <a:r>
              <a:rPr lang="es-CR" dirty="0"/>
              <a:t>Accesibilidad Inclusiva: Facilita el proceso para estudiantes que residen fuera de la localidad.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23373"/>
                </a:solidFill>
              </a:defRPr>
            </a:pPr>
            <a:r>
              <a:rPr lang="es-CR" dirty="0"/>
              <a:t>Eficiencia Operativa: Reducción drástica en tiempos de búsqueda y gestión administrativa.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23373"/>
                </a:solidFill>
              </a:defRPr>
            </a:pPr>
            <a:r>
              <a:rPr lang="es-CR" dirty="0"/>
              <a:t>Control de Activos: Disminución de pérdidas mediante notificaciones automáticas y listas de espera.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200">
                <a:solidFill>
                  <a:srgbClr val="023373"/>
                </a:solidFill>
              </a:defRPr>
            </a:pPr>
            <a:r>
              <a:rPr lang="es-CR" dirty="0"/>
              <a:t>Transparencia Institucional: Orden y visibilidad total sobre el uso de los recursos tecnológicos.</a:t>
            </a:r>
            <a:endParaRPr lang="es-E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are2026 16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1078992"/>
            <a:ext cx="109728" cy="502920"/>
          </a:xfrm>
          <a:prstGeom prst="rect">
            <a:avLst/>
          </a:prstGeom>
          <a:solidFill>
            <a:srgbClr val="F244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005840"/>
            <a:ext cx="458843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2332B"/>
                </a:solidFill>
                <a:latin typeface="Aptos Display" pitchFamily="34" charset="0"/>
              </a:rPr>
              <a:t>Secuencia</a:t>
            </a:r>
            <a:r>
              <a:rPr lang="en-US" sz="3600" b="1" dirty="0">
                <a:solidFill>
                  <a:srgbClr val="12332B"/>
                </a:solidFill>
                <a:latin typeface="Aptos Display" pitchFamily="34" charset="0"/>
              </a:rPr>
              <a:t> del </a:t>
            </a:r>
            <a:r>
              <a:rPr lang="en-US" sz="3600" b="1" dirty="0" err="1">
                <a:solidFill>
                  <a:srgbClr val="12332B"/>
                </a:solidFill>
                <a:latin typeface="Aptos Display" pitchFamily="34" charset="0"/>
              </a:rPr>
              <a:t>sistema</a:t>
            </a:r>
            <a:endParaRPr lang="en-US" sz="36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49E7D7F9-1C82-844A-10E8-7F73A4DF1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86" y="1652171"/>
            <a:ext cx="5397934" cy="475488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12EB812-C156-56A2-3057-16BCD4426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807" y="1652171"/>
            <a:ext cx="467667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4544E-B331-0C68-EF1E-067E33A5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are2026 16-9.png">
            <a:extLst>
              <a:ext uri="{FF2B5EF4-FFF2-40B4-BE49-F238E27FC236}">
                <a16:creationId xmlns:a16="http://schemas.microsoft.com/office/drawing/2014/main" id="{242FBD5B-8A09-7BF2-ABE2-5D02FDF97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7C8A51-1FBB-3EDC-722E-E6D438B22482}"/>
              </a:ext>
            </a:extLst>
          </p:cNvPr>
          <p:cNvSpPr txBox="1"/>
          <p:nvPr/>
        </p:nvSpPr>
        <p:spPr>
          <a:xfrm>
            <a:off x="733347" y="1456839"/>
            <a:ext cx="106948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R" sz="4000" b="1" dirty="0"/>
              <a:t>Gracias Por su </a:t>
            </a:r>
            <a:r>
              <a:rPr lang="en-US" sz="4000" b="1" dirty="0" err="1"/>
              <a:t>atención</a:t>
            </a:r>
            <a:r>
              <a:rPr lang="en-US" sz="4000" b="1" dirty="0"/>
              <a:t> </a:t>
            </a:r>
            <a:endParaRPr sz="4000" b="1" dirty="0">
              <a:solidFill>
                <a:srgbClr val="020659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AC541B-549D-CB06-0D31-1578F72096AE}"/>
              </a:ext>
            </a:extLst>
          </p:cNvPr>
          <p:cNvSpPr/>
          <p:nvPr/>
        </p:nvSpPr>
        <p:spPr>
          <a:xfrm>
            <a:off x="4206240" y="2839463"/>
            <a:ext cx="3749039" cy="73152"/>
          </a:xfrm>
          <a:prstGeom prst="rect">
            <a:avLst/>
          </a:prstGeom>
          <a:solidFill>
            <a:srgbClr val="F244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E0BE511-3339-C46E-0206-969E1CF709B1}"/>
              </a:ext>
            </a:extLst>
          </p:cNvPr>
          <p:cNvSpPr txBox="1"/>
          <p:nvPr/>
        </p:nvSpPr>
        <p:spPr>
          <a:xfrm>
            <a:off x="2496640" y="3202632"/>
            <a:ext cx="81493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>
                <a:solidFill>
                  <a:schemeClr val="tx2"/>
                </a:solidFill>
              </a:rPr>
              <a:t>Tiempo de preguntas..</a:t>
            </a:r>
          </a:p>
        </p:txBody>
      </p:sp>
    </p:spTree>
    <p:extLst>
      <p:ext uri="{BB962C8B-B14F-4D97-AF65-F5344CB8AC3E}">
        <p14:creationId xmlns:p14="http://schemas.microsoft.com/office/powerpoint/2010/main" val="2642306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378</Words>
  <Application>Microsoft Office PowerPoint</Application>
  <PresentationFormat>Panorámica</PresentationFormat>
  <Paragraphs>30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Ashly Fracinie Rodríguez Lanuza</cp:lastModifiedBy>
  <cp:revision>3</cp:revision>
  <dcterms:created xsi:type="dcterms:W3CDTF">2013-01-27T09:14:16Z</dcterms:created>
  <dcterms:modified xsi:type="dcterms:W3CDTF">2026-03-05T04:15:03Z</dcterms:modified>
  <cp:category/>
</cp:coreProperties>
</file>