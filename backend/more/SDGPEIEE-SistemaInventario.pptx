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A6396-60D2-4B7A-9E0D-6E5FDAC3C9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66FE80-BD6C-49C0-A4BF-900FAF0D7A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CD21D7-AD36-4E90-A7A1-220F91F952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DBE6BD-0BED-46B7-8D87-3FC5CD617E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EB0D23-FD93-41BF-B0AF-AF53D2627D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DDDF84-6403-4887-A989-1EFFD21328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CFC412-730D-4E4D-A580-692E87DC4E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2F7AC6-F29A-440F-93B6-5B8960BFE2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E408D2-4B5B-4C37-89E5-94AE588E9B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E6FDBB-CF4A-4A23-A860-E6E4CC9D70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F8FE2C-CA03-4736-ABBE-B52B2D24F5E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C7AD60-6705-4EEC-B5E5-7227F1919F0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&lt;fecha/hora&gt;</a:t>
            </a:r>
            <a:endParaRPr b="0" lang="es-CR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s-C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s-CR" sz="1400" spc="-1" strike="noStrike">
                <a:latin typeface="Times New Roman"/>
              </a:rPr>
              <a:t>&lt;pie de página&gt;</a:t>
            </a:r>
            <a:endParaRPr b="0" lang="es-C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DB73A5-AEFD-4AE8-9178-0CD956A320A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es-C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 descr="conare2026 16-9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2" name="TextBox 1"/>
          <p:cNvSpPr/>
          <p:nvPr/>
        </p:nvSpPr>
        <p:spPr>
          <a:xfrm>
            <a:off x="645480" y="1820160"/>
            <a:ext cx="106945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CR" sz="4000" spc="-1" strike="noStrike">
                <a:solidFill>
                  <a:srgbClr val="000000"/>
                </a:solidFill>
                <a:latin typeface="Calibri"/>
              </a:rPr>
              <a:t>SPIEE-SP</a:t>
            </a:r>
            <a:endParaRPr b="0" lang="es-CR" sz="4000" spc="-1" strike="noStrike">
              <a:latin typeface="Arial"/>
            </a:endParaRPr>
          </a:p>
        </p:txBody>
      </p:sp>
      <p:sp>
        <p:nvSpPr>
          <p:cNvPr id="43" name="Rectangle 1"/>
          <p:cNvSpPr/>
          <p:nvPr/>
        </p:nvSpPr>
        <p:spPr>
          <a:xfrm>
            <a:off x="4206240" y="2839320"/>
            <a:ext cx="3748680" cy="72720"/>
          </a:xfrm>
          <a:prstGeom prst="rect">
            <a:avLst/>
          </a:prstGeom>
          <a:solidFill>
            <a:srgbClr val="f244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CuadroTexto 1"/>
          <p:cNvSpPr/>
          <p:nvPr/>
        </p:nvSpPr>
        <p:spPr>
          <a:xfrm>
            <a:off x="2496600" y="3202560"/>
            <a:ext cx="814896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ES" sz="2800" spc="-1" strike="noStrike">
                <a:solidFill>
                  <a:srgbClr val="1f497d"/>
                </a:solidFill>
                <a:latin typeface="Calibri"/>
              </a:rPr>
              <a:t>Sistema de Prestamos que convierte la solicitud virtualizada y remota</a:t>
            </a:r>
            <a:endParaRPr b="0" lang="es-C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1" descr="conare2026 16-9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6" name="Rectangle 2"/>
          <p:cNvSpPr/>
          <p:nvPr/>
        </p:nvSpPr>
        <p:spPr>
          <a:xfrm>
            <a:off x="685800" y="1078920"/>
            <a:ext cx="109440" cy="502560"/>
          </a:xfrm>
          <a:prstGeom prst="rect">
            <a:avLst/>
          </a:prstGeom>
          <a:solidFill>
            <a:srgbClr val="f244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TextBox 3"/>
          <p:cNvSpPr/>
          <p:nvPr/>
        </p:nvSpPr>
        <p:spPr>
          <a:xfrm>
            <a:off x="217080" y="1005840"/>
            <a:ext cx="516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CR" sz="3600" spc="-1" strike="noStrike">
                <a:solidFill>
                  <a:srgbClr val="000000"/>
                </a:solidFill>
                <a:latin typeface="Calibri"/>
              </a:rPr>
              <a:t>Solución Propuesta</a:t>
            </a:r>
            <a:endParaRPr b="0" lang="es-CR" sz="3600" spc="-1" strike="noStrike">
              <a:latin typeface="Arial"/>
            </a:endParaRPr>
          </a:p>
        </p:txBody>
      </p:sp>
      <p:sp>
        <p:nvSpPr>
          <p:cNvPr id="48" name="TextBox 4"/>
          <p:cNvSpPr/>
          <p:nvPr/>
        </p:nvSpPr>
        <p:spPr>
          <a:xfrm>
            <a:off x="964080" y="2550960"/>
            <a:ext cx="9813960" cy="22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23373"/>
              </a:buClr>
              <a:buFont typeface="Arial"/>
              <a:buChar char="•"/>
            </a:pPr>
            <a:r>
              <a:rPr b="0" lang="es-CR" sz="2400" spc="-1" strike="noStrike">
                <a:solidFill>
                  <a:srgbClr val="023373"/>
                </a:solidFill>
                <a:latin typeface="Calibri"/>
              </a:rPr>
              <a:t>Plataforma Web Centralizada</a:t>
            </a:r>
            <a:endParaRPr b="0" lang="es-CR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23373"/>
              </a:buClr>
              <a:buFont typeface="Arial"/>
              <a:buChar char="•"/>
            </a:pPr>
            <a:r>
              <a:rPr b="0" lang="es-CR" sz="2400" spc="-1" strike="noStrike">
                <a:solidFill>
                  <a:srgbClr val="023373"/>
                </a:solidFill>
                <a:latin typeface="Calibri"/>
              </a:rPr>
              <a:t>Digitalización de Registros</a:t>
            </a:r>
            <a:endParaRPr b="0" lang="es-CR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23373"/>
              </a:buClr>
              <a:buFont typeface="Arial"/>
              <a:buChar char="•"/>
            </a:pPr>
            <a:r>
              <a:rPr b="0" lang="es-CR" sz="2400" spc="-1" strike="noStrike">
                <a:solidFill>
                  <a:srgbClr val="023373"/>
                </a:solidFill>
                <a:latin typeface="Calibri"/>
              </a:rPr>
              <a:t>Módulo de Préstamos y Devoluciones</a:t>
            </a:r>
            <a:endParaRPr b="0" lang="es-CR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23373"/>
              </a:buClr>
              <a:buFont typeface="Arial"/>
              <a:buChar char="•"/>
            </a:pPr>
            <a:r>
              <a:rPr b="0" lang="es-CR" sz="2400" spc="-1" strike="noStrike">
                <a:solidFill>
                  <a:srgbClr val="023373"/>
                </a:solidFill>
                <a:latin typeface="Calibri"/>
              </a:rPr>
              <a:t>Administración de Inventario</a:t>
            </a:r>
            <a:br>
              <a:rPr sz="2200"/>
            </a:br>
            <a:r>
              <a:rPr b="0" lang="es-ES" sz="2200" spc="-1" strike="noStrike">
                <a:solidFill>
                  <a:srgbClr val="023373"/>
                </a:solidFill>
                <a:latin typeface="Calibri"/>
              </a:rPr>
              <a:t> </a:t>
            </a:r>
            <a:endParaRPr b="0" lang="es-C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" descr="conare2026 16-9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50" name="Rectangle 2"/>
          <p:cNvSpPr/>
          <p:nvPr/>
        </p:nvSpPr>
        <p:spPr>
          <a:xfrm>
            <a:off x="685800" y="1078920"/>
            <a:ext cx="109440" cy="502560"/>
          </a:xfrm>
          <a:prstGeom prst="rect">
            <a:avLst/>
          </a:prstGeom>
          <a:solidFill>
            <a:srgbClr val="f244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3"/>
          <p:cNvSpPr/>
          <p:nvPr/>
        </p:nvSpPr>
        <p:spPr>
          <a:xfrm>
            <a:off x="83520" y="1005840"/>
            <a:ext cx="6027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s-CR" sz="3600" spc="-1" strike="noStrike">
                <a:solidFill>
                  <a:srgbClr val="000000"/>
                </a:solidFill>
                <a:latin typeface="Calibri"/>
              </a:rPr>
              <a:t>Beneficios del Sistema</a:t>
            </a:r>
            <a:endParaRPr b="0" lang="es-CR" sz="3600" spc="-1" strike="noStrike">
              <a:latin typeface="Arial"/>
            </a:endParaRPr>
          </a:p>
        </p:txBody>
      </p:sp>
      <p:sp>
        <p:nvSpPr>
          <p:cNvPr id="52" name="TextBox 4"/>
          <p:cNvSpPr/>
          <p:nvPr/>
        </p:nvSpPr>
        <p:spPr>
          <a:xfrm>
            <a:off x="988560" y="2333160"/>
            <a:ext cx="9813960" cy="31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23373"/>
              </a:buClr>
              <a:buFont typeface="Arial"/>
              <a:buChar char="•"/>
            </a:pPr>
            <a:r>
              <a:rPr b="0" lang="es-CR" sz="2200" spc="-1" strike="noStrike">
                <a:solidFill>
                  <a:srgbClr val="023373"/>
                </a:solidFill>
                <a:latin typeface="Calibri"/>
              </a:rPr>
              <a:t>Accesibilidad Inclusiva: Facilita el proceso para estudiantes que residen fuera de la localidad.</a:t>
            </a:r>
            <a:endParaRPr b="0" lang="es-CR" sz="2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23373"/>
              </a:buClr>
              <a:buFont typeface="Arial"/>
              <a:buChar char="•"/>
            </a:pPr>
            <a:r>
              <a:rPr b="0" lang="es-CR" sz="2200" spc="-1" strike="noStrike">
                <a:solidFill>
                  <a:srgbClr val="023373"/>
                </a:solidFill>
                <a:latin typeface="Calibri"/>
              </a:rPr>
              <a:t>Eficiencia Operativa: Reducción drástica en tiempos de búsqueda y gestión administrativa.</a:t>
            </a:r>
            <a:endParaRPr b="0" lang="es-CR" sz="2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23373"/>
              </a:buClr>
              <a:buFont typeface="Arial"/>
              <a:buChar char="•"/>
            </a:pPr>
            <a:r>
              <a:rPr b="0" lang="es-CR" sz="2200" spc="-1" strike="noStrike">
                <a:solidFill>
                  <a:srgbClr val="023373"/>
                </a:solidFill>
                <a:latin typeface="Calibri"/>
              </a:rPr>
              <a:t>Control de Activos: Disminución de pérdidas mediante notificaciones automáticas y listas de espera.</a:t>
            </a:r>
            <a:endParaRPr b="0" lang="es-CR" sz="2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1001"/>
              </a:spcAft>
              <a:buClr>
                <a:srgbClr val="023373"/>
              </a:buClr>
              <a:buFont typeface="Arial"/>
              <a:buChar char="•"/>
            </a:pPr>
            <a:r>
              <a:rPr b="0" lang="es-CR" sz="2200" spc="-1" strike="noStrike">
                <a:solidFill>
                  <a:srgbClr val="023373"/>
                </a:solidFill>
                <a:latin typeface="Calibri"/>
              </a:rPr>
              <a:t>Transparencia Institucional: Orden y visibilidad total sobre el uso de los recursos tecnológicos.</a:t>
            </a:r>
            <a:endParaRPr b="0" lang="es-CR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" descr="conare2026 16-9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54" name="TextBox 2"/>
          <p:cNvSpPr/>
          <p:nvPr/>
        </p:nvSpPr>
        <p:spPr>
          <a:xfrm>
            <a:off x="733320" y="1456920"/>
            <a:ext cx="106945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s-CR" sz="4000" spc="-1" strike="noStrike">
                <a:solidFill>
                  <a:srgbClr val="000000"/>
                </a:solidFill>
                <a:latin typeface="Calibri"/>
              </a:rPr>
              <a:t>Gracias Por su </a:t>
            </a:r>
            <a:r>
              <a:rPr b="1" lang="en-US" sz="4000" spc="-1" strike="noStrike">
                <a:solidFill>
                  <a:srgbClr val="000000"/>
                </a:solidFill>
                <a:latin typeface="Calibri"/>
              </a:rPr>
              <a:t>atención </a:t>
            </a:r>
            <a:endParaRPr b="0" lang="es-CR" sz="4000" spc="-1" strike="noStrike">
              <a:latin typeface="Arial"/>
            </a:endParaRPr>
          </a:p>
        </p:txBody>
      </p:sp>
      <p:sp>
        <p:nvSpPr>
          <p:cNvPr id="55" name="Rectangle 3"/>
          <p:cNvSpPr/>
          <p:nvPr/>
        </p:nvSpPr>
        <p:spPr>
          <a:xfrm>
            <a:off x="4206240" y="2839320"/>
            <a:ext cx="3748680" cy="72720"/>
          </a:xfrm>
          <a:prstGeom prst="rect">
            <a:avLst/>
          </a:prstGeom>
          <a:solidFill>
            <a:srgbClr val="f244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adroTexto 6"/>
          <p:cNvSpPr/>
          <p:nvPr/>
        </p:nvSpPr>
        <p:spPr>
          <a:xfrm>
            <a:off x="2496600" y="3202560"/>
            <a:ext cx="8148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800" spc="-1" strike="noStrike">
                <a:solidFill>
                  <a:srgbClr val="1f497d"/>
                </a:solidFill>
                <a:latin typeface="Calibri"/>
              </a:rPr>
              <a:t>Tiempo de preguntas..</a:t>
            </a:r>
            <a:endParaRPr b="0" lang="es-C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Application>LibreOffice/7.3.7.2$Linux_X86_64 LibreOffice_project/30$Build-2</Application>
  <AppVersion>15.0000</AppVersion>
  <Words>378</Words>
  <Paragraphs>30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es-CR</dc:language>
  <cp:lastModifiedBy/>
  <dcterms:modified xsi:type="dcterms:W3CDTF">2026-03-25T09:27:08Z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9</vt:i4>
  </property>
</Properties>
</file>